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A2A2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371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7A2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OVERVIEW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0607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PM-OS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66928" y="388620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D8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PM-led operating layer for the product lifecycle. One coherent thread from idea to ship — with the PM in control at every decision point.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66928" y="6217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for: Director of Product · BU Head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A2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344168" y="475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 with running the lifecycle by hand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57839" cy="0"/>
          </a:xfrm>
          <a:prstGeom prst="line">
            <a:avLst/>
          </a:prstGeom>
          <a:noFill/>
          <a:ln w="12700">
            <a:solidFill>
              <a:srgbClr val="C9D4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55448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PM drives every product through the same stages — brief, scope, PRD, design, QA, metrics. Built by hand each time, the lifecycle is slow, uneven in quality, and easy to break.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66928" y="2743200"/>
            <a:ext cx="3442106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2743200"/>
            <a:ext cx="82296" cy="30632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8" name="Shape 6"/>
          <p:cNvSpPr/>
          <p:nvPr/>
        </p:nvSpPr>
        <p:spPr>
          <a:xfrm>
            <a:off x="886968" y="3017520"/>
            <a:ext cx="502920" cy="502920"/>
          </a:xfrm>
          <a:prstGeom prst="ellipse">
            <a:avLst/>
          </a:prstGeom>
          <a:solidFill>
            <a:srgbClr val="EEF3F8"/>
          </a:solidFill>
          <a:ln w="19050">
            <a:solidFill>
              <a:srgbClr val="0E7C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3017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≠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86968" y="3703320"/>
            <a:ext cx="280202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Inconsistent output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86968" y="4206240"/>
            <a:ext cx="280202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and consistency of artifacts swing by PM, by product, and by how close the deadline is. There’s no repeatable standard to lean on.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374794" y="2743200"/>
            <a:ext cx="3442106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74794" y="2743200"/>
            <a:ext cx="82296" cy="30632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4" name="Shape 12"/>
          <p:cNvSpPr/>
          <p:nvPr/>
        </p:nvSpPr>
        <p:spPr>
          <a:xfrm>
            <a:off x="4694834" y="3017520"/>
            <a:ext cx="502920" cy="502920"/>
          </a:xfrm>
          <a:prstGeom prst="ellipse">
            <a:avLst/>
          </a:prstGeom>
          <a:solidFill>
            <a:srgbClr val="EEF3F8"/>
          </a:solidFill>
          <a:ln w="19050">
            <a:solidFill>
              <a:srgbClr val="0E7C7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4834" y="3017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↻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694834" y="3703320"/>
            <a:ext cx="280202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Slow end-to-end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694834" y="4206240"/>
            <a:ext cx="280202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starts from a blank page. Running the full lifecycle is time-consuming, and the busywork crowds out the actual product thinking.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182661" y="2743200"/>
            <a:ext cx="3442106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82661" y="2743200"/>
            <a:ext cx="82296" cy="30632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0" name="Shape 18"/>
          <p:cNvSpPr/>
          <p:nvPr/>
        </p:nvSpPr>
        <p:spPr>
          <a:xfrm>
            <a:off x="8502701" y="3017520"/>
            <a:ext cx="502920" cy="502920"/>
          </a:xfrm>
          <a:prstGeom prst="ellipse">
            <a:avLst/>
          </a:prstGeom>
          <a:solidFill>
            <a:srgbClr val="EEF3F8"/>
          </a:solidFill>
          <a:ln w="19050">
            <a:solidFill>
              <a:srgbClr val="0E7C7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02701" y="3017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✗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502701" y="3703320"/>
            <a:ext cx="280202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Costly late rework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502701" y="4206240"/>
            <a:ext cx="280202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upstream change quietly invalidates downstream docs. Gaps and contradictions surface late — when they’re slowest and most expensive to fix.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A2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344168" y="475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PM-OS 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57839" cy="0"/>
          </a:xfrm>
          <a:prstGeom prst="line">
            <a:avLst/>
          </a:prstGeom>
          <a:noFill/>
          <a:ln w="12700">
            <a:solidFill>
              <a:srgbClr val="C9D4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5544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operating layer that keeps one coherent thread across the product lifecycle. 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runs on the PM’s own machine — no new app to adopt, no central system, nothing leaves the PM’s control.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66928" y="2560320"/>
            <a:ext cx="11057839" cy="1143000"/>
          </a:xfrm>
          <a:prstGeom prst="roundRect">
            <a:avLst>
              <a:gd name="adj" fmla="val 6400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670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PM decides  ·  PM-OS prepares &amp; validates  ·  Dev &amp; QA execute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66928" y="32461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8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whole philosophy: PM-OS removes the busywork, never the judgment.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3977640"/>
            <a:ext cx="344210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3977640"/>
            <a:ext cx="82296" cy="1828800"/>
          </a:xfrm>
          <a:prstGeom prst="rect">
            <a:avLst/>
          </a:prstGeom>
          <a:solidFill>
            <a:srgbClr val="17A2A2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4160520"/>
            <a:ext cx="289346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PM decides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41248" y="4800600"/>
            <a:ext cx="289346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trade-offs, approvals, priority, release calls.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374794" y="3977640"/>
            <a:ext cx="344210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74794" y="3977640"/>
            <a:ext cx="82296" cy="18288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5" name="Text 13"/>
          <p:cNvSpPr/>
          <p:nvPr/>
        </p:nvSpPr>
        <p:spPr>
          <a:xfrm>
            <a:off x="4649114" y="4160520"/>
            <a:ext cx="289346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PM-OS prepares &amp; validates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49114" y="4800600"/>
            <a:ext cx="289346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artifacts, checks consistency, flags drift, recommends the next step.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182661" y="3977640"/>
            <a:ext cx="344210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2661" y="3977640"/>
            <a:ext cx="82296" cy="18288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9" name="Text 17"/>
          <p:cNvSpPr/>
          <p:nvPr/>
        </p:nvSpPr>
        <p:spPr>
          <a:xfrm>
            <a:off x="8456981" y="4160520"/>
            <a:ext cx="289346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 &amp; QA execute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56981" y="4800600"/>
            <a:ext cx="289346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and testing stay with the team. PM-OS never replaces them.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A2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344168" y="475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works today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57839" cy="0"/>
          </a:xfrm>
          <a:prstGeom prst="line">
            <a:avLst/>
          </a:prstGeom>
          <a:noFill/>
          <a:ln w="12700">
            <a:solidFill>
              <a:srgbClr val="C9D4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55448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now (v1): 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gated pipeline that turns a one-line business statement into a reviewed set of product-definition artifacts.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66928" y="2331720"/>
            <a:ext cx="1407262" cy="9144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2331720"/>
            <a:ext cx="82296" cy="9144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8" name="Text 6"/>
          <p:cNvSpPr/>
          <p:nvPr/>
        </p:nvSpPr>
        <p:spPr>
          <a:xfrm>
            <a:off x="603504" y="2331720"/>
            <a:ext cx="133411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955902" y="2331720"/>
            <a:ext cx="2377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A2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175358" y="2331720"/>
            <a:ext cx="140726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75358" y="2331720"/>
            <a:ext cx="82296" cy="9144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2" name="Text 10"/>
          <p:cNvSpPr/>
          <p:nvPr/>
        </p:nvSpPr>
        <p:spPr>
          <a:xfrm>
            <a:off x="2211934" y="2331720"/>
            <a:ext cx="133411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64331" y="2331720"/>
            <a:ext cx="2377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A2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783787" y="2331720"/>
            <a:ext cx="140726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83787" y="2331720"/>
            <a:ext cx="82296" cy="9144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6" name="Text 14"/>
          <p:cNvSpPr/>
          <p:nvPr/>
        </p:nvSpPr>
        <p:spPr>
          <a:xfrm>
            <a:off x="3820363" y="2331720"/>
            <a:ext cx="133411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172761" y="2331720"/>
            <a:ext cx="2377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A2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392217" y="2331720"/>
            <a:ext cx="140726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92217" y="2331720"/>
            <a:ext cx="82296" cy="9144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0" name="Text 18"/>
          <p:cNvSpPr/>
          <p:nvPr/>
        </p:nvSpPr>
        <p:spPr>
          <a:xfrm>
            <a:off x="5428793" y="2331720"/>
            <a:ext cx="133411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781190" y="2331720"/>
            <a:ext cx="2377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A2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000646" y="2331720"/>
            <a:ext cx="140726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00646" y="2331720"/>
            <a:ext cx="82296" cy="9144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4" name="Text 22"/>
          <p:cNvSpPr/>
          <p:nvPr/>
        </p:nvSpPr>
        <p:spPr>
          <a:xfrm>
            <a:off x="7037222" y="2331720"/>
            <a:ext cx="133411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389620" y="2331720"/>
            <a:ext cx="2377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A2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609076" y="2331720"/>
            <a:ext cx="140726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09076" y="2331720"/>
            <a:ext cx="82296" cy="9144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8" name="Text 26"/>
          <p:cNvSpPr/>
          <p:nvPr/>
        </p:nvSpPr>
        <p:spPr>
          <a:xfrm>
            <a:off x="8645652" y="2331720"/>
            <a:ext cx="133411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998050" y="2331720"/>
            <a:ext cx="2377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A2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0217506" y="2331720"/>
            <a:ext cx="140726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217506" y="2331720"/>
            <a:ext cx="82296" cy="9144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2" name="Text 30"/>
          <p:cNvSpPr/>
          <p:nvPr/>
        </p:nvSpPr>
        <p:spPr>
          <a:xfrm>
            <a:off x="10254082" y="2331720"/>
            <a:ext cx="133411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66928" y="333756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pauses for the PM’s review before the next one runs.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66928" y="3886200"/>
            <a:ext cx="3442106" cy="1188720"/>
          </a:xfrm>
          <a:prstGeom prst="roundRect">
            <a:avLst>
              <a:gd name="adj" fmla="val 6154"/>
            </a:avLst>
          </a:prstGeom>
          <a:solidFill>
            <a:srgbClr val="EEF3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95528" y="4023360"/>
            <a:ext cx="298490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Human-gated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95528" y="4389120"/>
            <a:ext cx="298490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pauses for the PM’s review — the PM decides when to move on.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4374794" y="3886200"/>
            <a:ext cx="3442106" cy="1188720"/>
          </a:xfrm>
          <a:prstGeom prst="roundRect">
            <a:avLst>
              <a:gd name="adj" fmla="val 6154"/>
            </a:avLst>
          </a:prstGeom>
          <a:solidFill>
            <a:srgbClr val="EEF3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03394" y="4023360"/>
            <a:ext cx="298490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Catches drift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4603394" y="4389120"/>
            <a:ext cx="298490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an approved doc and PM-OS flags what downstream may no longer hold.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8182661" y="3886200"/>
            <a:ext cx="3442106" cy="1188720"/>
          </a:xfrm>
          <a:prstGeom prst="roundRect">
            <a:avLst>
              <a:gd name="adj" fmla="val 6154"/>
            </a:avLst>
          </a:prstGeom>
          <a:solidFill>
            <a:srgbClr val="EEF3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411261" y="4023360"/>
            <a:ext cx="298490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&amp; portable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411261" y="4389120"/>
            <a:ext cx="298490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Markdown files on the PM’s machine. Runs on Claude Code or Codex.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566928" y="5303520"/>
            <a:ext cx="11057839" cy="777240"/>
          </a:xfrm>
          <a:prstGeom prst="roundRect">
            <a:avLst>
              <a:gd name="adj" fmla="val 9412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86968" y="5486400"/>
            <a:ext cx="411480" cy="411480"/>
          </a:xfrm>
          <a:prstGeom prst="ellipse">
            <a:avLst/>
          </a:prstGeom>
          <a:solidFill>
            <a:srgbClr val="17A2A2"/>
          </a:solidFill>
          <a:ln/>
        </p:spPr>
      </p:sp>
      <p:sp>
        <p:nvSpPr>
          <p:cNvPr id="45" name="Text 43"/>
          <p:cNvSpPr/>
          <p:nvPr/>
        </p:nvSpPr>
        <p:spPr>
          <a:xfrm>
            <a:off x="886968" y="54864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481328" y="5303520"/>
            <a:ext cx="9869119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 </a:t>
            </a:r>
            <a:pPr indent="0" marL="0">
              <a:buNone/>
            </a:pPr>
            <a:r>
              <a:rPr lang="en-US" sz="1500" dirty="0">
                <a:solidFill>
                  <a:srgbClr val="D8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a project → generate a brief → approve → watch the next stage unlock.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A2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344168" y="475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saves — time per stage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57839" cy="0"/>
          </a:xfrm>
          <a:prstGeom prst="line">
            <a:avLst/>
          </a:prstGeom>
          <a:noFill/>
          <a:ln w="12700">
            <a:solidFill>
              <a:srgbClr val="C9D4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63040"/>
            <a:ext cx="1105783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PM hands-on time to a reviewable first draft. With PM-OS, each stage is generate + review.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423160" y="1965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TYPICAL, BY HAND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555480" y="196596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PM-OS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313432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brief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23160" y="2331720"/>
            <a:ext cx="2270760" cy="310896"/>
          </a:xfrm>
          <a:prstGeom prst="roundRect">
            <a:avLst>
              <a:gd name="adj" fmla="val 11765"/>
            </a:avLst>
          </a:prstGeom>
          <a:solidFill>
            <a:srgbClr val="DCE3EB"/>
          </a:solidFill>
          <a:ln/>
        </p:spPr>
      </p:sp>
      <p:sp>
        <p:nvSpPr>
          <p:cNvPr id="10" name="Shape 8"/>
          <p:cNvSpPr/>
          <p:nvPr/>
        </p:nvSpPr>
        <p:spPr>
          <a:xfrm>
            <a:off x="2423160" y="2331720"/>
            <a:ext cx="141923" cy="310896"/>
          </a:xfrm>
          <a:prstGeom prst="roundRect">
            <a:avLst>
              <a:gd name="adj" fmla="val 25772"/>
            </a:avLst>
          </a:prstGeom>
          <a:solidFill>
            <a:srgbClr val="0E7C7B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2331720"/>
            <a:ext cx="2142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555480" y="23317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13" name="Text 11"/>
          <p:cNvSpPr/>
          <p:nvPr/>
        </p:nvSpPr>
        <p:spPr>
          <a:xfrm>
            <a:off x="9555480" y="2331720"/>
            <a:ext cx="1417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2756916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423160" y="2775204"/>
            <a:ext cx="2270760" cy="310896"/>
          </a:xfrm>
          <a:prstGeom prst="roundRect">
            <a:avLst>
              <a:gd name="adj" fmla="val 11765"/>
            </a:avLst>
          </a:prstGeom>
          <a:solidFill>
            <a:srgbClr val="DCE3EB"/>
          </a:solidFill>
          <a:ln/>
        </p:spPr>
      </p:sp>
      <p:sp>
        <p:nvSpPr>
          <p:cNvPr id="16" name="Shape 14"/>
          <p:cNvSpPr/>
          <p:nvPr/>
        </p:nvSpPr>
        <p:spPr>
          <a:xfrm>
            <a:off x="2423160" y="2775204"/>
            <a:ext cx="212884" cy="310896"/>
          </a:xfrm>
          <a:prstGeom prst="roundRect">
            <a:avLst>
              <a:gd name="adj" fmla="val 17181"/>
            </a:avLst>
          </a:prstGeom>
          <a:solidFill>
            <a:srgbClr val="0E7C7B"/>
          </a:solidFill>
          <a:ln/>
        </p:spPr>
      </p:sp>
      <p:sp>
        <p:nvSpPr>
          <p:cNvPr id="17" name="Text 15"/>
          <p:cNvSpPr/>
          <p:nvPr/>
        </p:nvSpPr>
        <p:spPr>
          <a:xfrm>
            <a:off x="2423160" y="2775204"/>
            <a:ext cx="2142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day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555480" y="2775204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19" name="Text 17"/>
          <p:cNvSpPr/>
          <p:nvPr/>
        </p:nvSpPr>
        <p:spPr>
          <a:xfrm>
            <a:off x="9555480" y="2775204"/>
            <a:ext cx="1417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6928" y="320040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423160" y="3218688"/>
            <a:ext cx="6812280" cy="310896"/>
          </a:xfrm>
          <a:prstGeom prst="roundRect">
            <a:avLst>
              <a:gd name="adj" fmla="val 11765"/>
            </a:avLst>
          </a:prstGeom>
          <a:solidFill>
            <a:srgbClr val="DCE3EB"/>
          </a:solidFill>
          <a:ln/>
        </p:spPr>
      </p:sp>
      <p:sp>
        <p:nvSpPr>
          <p:cNvPr id="22" name="Shape 20"/>
          <p:cNvSpPr/>
          <p:nvPr/>
        </p:nvSpPr>
        <p:spPr>
          <a:xfrm>
            <a:off x="2423160" y="3218688"/>
            <a:ext cx="567690" cy="310896"/>
          </a:xfrm>
          <a:prstGeom prst="roundRect">
            <a:avLst>
              <a:gd name="adj" fmla="val 11765"/>
            </a:avLst>
          </a:prstGeom>
          <a:solidFill>
            <a:srgbClr val="0E7C7B"/>
          </a:solidFill>
          <a:ln/>
        </p:spPr>
      </p:sp>
      <p:sp>
        <p:nvSpPr>
          <p:cNvPr id="23" name="Text 21"/>
          <p:cNvSpPr/>
          <p:nvPr/>
        </p:nvSpPr>
        <p:spPr>
          <a:xfrm>
            <a:off x="2423160" y="3218688"/>
            <a:ext cx="6684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days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555480" y="321868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25" name="Text 23"/>
          <p:cNvSpPr/>
          <p:nvPr/>
        </p:nvSpPr>
        <p:spPr>
          <a:xfrm>
            <a:off x="9555480" y="3218688"/>
            <a:ext cx="1417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hrs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6928" y="3643884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spec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423160" y="3662172"/>
            <a:ext cx="4541520" cy="310896"/>
          </a:xfrm>
          <a:prstGeom prst="roundRect">
            <a:avLst>
              <a:gd name="adj" fmla="val 11765"/>
            </a:avLst>
          </a:prstGeom>
          <a:solidFill>
            <a:srgbClr val="DCE3EB"/>
          </a:solidFill>
          <a:ln/>
        </p:spPr>
      </p:sp>
      <p:sp>
        <p:nvSpPr>
          <p:cNvPr id="28" name="Shape 26"/>
          <p:cNvSpPr/>
          <p:nvPr/>
        </p:nvSpPr>
        <p:spPr>
          <a:xfrm>
            <a:off x="2423160" y="3662172"/>
            <a:ext cx="283845" cy="310896"/>
          </a:xfrm>
          <a:prstGeom prst="roundRect">
            <a:avLst>
              <a:gd name="adj" fmla="val 12886"/>
            </a:avLst>
          </a:prstGeom>
          <a:solidFill>
            <a:srgbClr val="0E7C7B"/>
          </a:solidFill>
          <a:ln/>
        </p:spPr>
      </p:sp>
      <p:sp>
        <p:nvSpPr>
          <p:cNvPr id="29" name="Text 27"/>
          <p:cNvSpPr/>
          <p:nvPr/>
        </p:nvSpPr>
        <p:spPr>
          <a:xfrm>
            <a:off x="2423160" y="3662172"/>
            <a:ext cx="44135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days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9555480" y="3662172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31" name="Text 29"/>
          <p:cNvSpPr/>
          <p:nvPr/>
        </p:nvSpPr>
        <p:spPr>
          <a:xfrm>
            <a:off x="9555480" y="3662172"/>
            <a:ext cx="1417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66928" y="4087368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plan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423160" y="4105656"/>
            <a:ext cx="4541520" cy="310896"/>
          </a:xfrm>
          <a:prstGeom prst="roundRect">
            <a:avLst>
              <a:gd name="adj" fmla="val 11765"/>
            </a:avLst>
          </a:prstGeom>
          <a:solidFill>
            <a:srgbClr val="DCE3EB"/>
          </a:solidFill>
          <a:ln/>
        </p:spPr>
      </p:sp>
      <p:sp>
        <p:nvSpPr>
          <p:cNvPr id="34" name="Shape 32"/>
          <p:cNvSpPr/>
          <p:nvPr/>
        </p:nvSpPr>
        <p:spPr>
          <a:xfrm>
            <a:off x="2423160" y="4105656"/>
            <a:ext cx="283845" cy="310896"/>
          </a:xfrm>
          <a:prstGeom prst="roundRect">
            <a:avLst>
              <a:gd name="adj" fmla="val 12886"/>
            </a:avLst>
          </a:prstGeom>
          <a:solidFill>
            <a:srgbClr val="0E7C7B"/>
          </a:solidFill>
          <a:ln/>
        </p:spPr>
      </p:sp>
      <p:sp>
        <p:nvSpPr>
          <p:cNvPr id="35" name="Text 33"/>
          <p:cNvSpPr/>
          <p:nvPr/>
        </p:nvSpPr>
        <p:spPr>
          <a:xfrm>
            <a:off x="2423160" y="4105656"/>
            <a:ext cx="44135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days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9555480" y="4105656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37" name="Text 35"/>
          <p:cNvSpPr/>
          <p:nvPr/>
        </p:nvSpPr>
        <p:spPr>
          <a:xfrm>
            <a:off x="9555480" y="4105656"/>
            <a:ext cx="1417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hr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66928" y="4530852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plan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423160" y="4549140"/>
            <a:ext cx="2270760" cy="310896"/>
          </a:xfrm>
          <a:prstGeom prst="roundRect">
            <a:avLst>
              <a:gd name="adj" fmla="val 11765"/>
            </a:avLst>
          </a:prstGeom>
          <a:solidFill>
            <a:srgbClr val="DCE3EB"/>
          </a:solidFill>
          <a:ln/>
        </p:spPr>
      </p:sp>
      <p:sp>
        <p:nvSpPr>
          <p:cNvPr id="40" name="Shape 38"/>
          <p:cNvSpPr/>
          <p:nvPr/>
        </p:nvSpPr>
        <p:spPr>
          <a:xfrm>
            <a:off x="2423160" y="4549140"/>
            <a:ext cx="141923" cy="310896"/>
          </a:xfrm>
          <a:prstGeom prst="roundRect">
            <a:avLst>
              <a:gd name="adj" fmla="val 25772"/>
            </a:avLst>
          </a:prstGeom>
          <a:solidFill>
            <a:srgbClr val="0E7C7B"/>
          </a:solidFill>
          <a:ln/>
        </p:spPr>
      </p:sp>
      <p:sp>
        <p:nvSpPr>
          <p:cNvPr id="41" name="Text 39"/>
          <p:cNvSpPr/>
          <p:nvPr/>
        </p:nvSpPr>
        <p:spPr>
          <a:xfrm>
            <a:off x="2423160" y="4549140"/>
            <a:ext cx="2142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day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9555480" y="454914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43" name="Text 41"/>
          <p:cNvSpPr/>
          <p:nvPr/>
        </p:nvSpPr>
        <p:spPr>
          <a:xfrm>
            <a:off x="9555480" y="4549140"/>
            <a:ext cx="1417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66928" y="5074920"/>
            <a:ext cx="11057839" cy="9144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2688" y="5138928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2 working weeks</a:t>
            </a:r>
            <a:pPr indent="0" marL="0">
              <a:buNone/>
            </a:pPr>
            <a:r>
              <a:rPr lang="en-US" sz="2200" dirty="0">
                <a:solidFill>
                  <a:srgbClr val="D8E4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of authoring  →  </a:t>
            </a:r>
            <a:pPr indent="0" marL="0">
              <a:buNone/>
            </a:pPr>
            <a:r>
              <a:rPr lang="en-US" sz="2200" b="1" dirty="0">
                <a:solidFill>
                  <a:srgbClr val="17A2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 a day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932688" y="5596128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8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90% less hands-on time before review.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247327" y="5138928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A2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 hrs</a:t>
            </a:r>
            <a:pPr algn="r" indent="0" marL="0">
              <a:buNone/>
            </a:pPr>
            <a:endParaRPr lang="en-US" sz="1400" dirty="0"/>
          </a:p>
          <a:p>
            <a:pPr algn="r" indent="0" marL="0">
              <a:buNone/>
            </a:pPr>
            <a:r>
              <a:rPr lang="en-US" sz="1400" dirty="0">
                <a:solidFill>
                  <a:srgbClr val="D8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PM-OS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566928" y="608076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Indicative; PM authoring time to a first solid draft. Excludes stakeholder review cycles, which apply either way. Varies with product complexity.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A2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344168" y="475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it’s going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57839" cy="0"/>
          </a:xfrm>
          <a:prstGeom prst="line">
            <a:avLst/>
          </a:prstGeom>
          <a:noFill/>
          <a:ln w="12700">
            <a:solidFill>
              <a:srgbClr val="C9D4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55448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is the product-definition kernel. 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vision is to cover the full lifecycle — built as additive phases around that kernel, not a rewrite.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66928" y="2331720"/>
            <a:ext cx="1438612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2331720"/>
            <a:ext cx="82296" cy="1051560"/>
          </a:xfrm>
          <a:prstGeom prst="rect">
            <a:avLst/>
          </a:prstGeom>
          <a:solidFill>
            <a:srgbClr val="B5742A"/>
          </a:solidFill>
          <a:ln/>
        </p:spPr>
      </p:sp>
      <p:sp>
        <p:nvSpPr>
          <p:cNvPr id="8" name="Text 6"/>
          <p:cNvSpPr/>
          <p:nvPr/>
        </p:nvSpPr>
        <p:spPr>
          <a:xfrm>
            <a:off x="603504" y="2423160"/>
            <a:ext cx="1365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3504" y="2990088"/>
            <a:ext cx="13654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5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70132" y="2331720"/>
            <a:ext cx="1438612" cy="1051560"/>
          </a:xfrm>
          <a:prstGeom prst="roundRect">
            <a:avLst>
              <a:gd name="adj" fmla="val 6957"/>
            </a:avLst>
          </a:prstGeom>
          <a:solidFill>
            <a:srgbClr val="E2F0E8"/>
          </a:solidFill>
          <a:ln w="12700">
            <a:solidFill>
              <a:srgbClr val="BBD8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70132" y="2331720"/>
            <a:ext cx="82296" cy="1051560"/>
          </a:xfrm>
          <a:prstGeom prst="rect">
            <a:avLst/>
          </a:prstGeom>
          <a:solidFill>
            <a:srgbClr val="1E7A46"/>
          </a:solidFill>
          <a:ln/>
        </p:spPr>
      </p:sp>
      <p:sp>
        <p:nvSpPr>
          <p:cNvPr id="12" name="Text 10"/>
          <p:cNvSpPr/>
          <p:nvPr/>
        </p:nvSpPr>
        <p:spPr>
          <a:xfrm>
            <a:off x="2206708" y="2423160"/>
            <a:ext cx="1365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206708" y="2990088"/>
            <a:ext cx="13654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73337" y="2331720"/>
            <a:ext cx="1438612" cy="1051560"/>
          </a:xfrm>
          <a:prstGeom prst="roundRect">
            <a:avLst>
              <a:gd name="adj" fmla="val 6957"/>
            </a:avLst>
          </a:prstGeom>
          <a:solidFill>
            <a:srgbClr val="E2F0E8"/>
          </a:solidFill>
          <a:ln w="12700">
            <a:solidFill>
              <a:srgbClr val="BBD8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73337" y="2331720"/>
            <a:ext cx="82296" cy="1051560"/>
          </a:xfrm>
          <a:prstGeom prst="rect">
            <a:avLst/>
          </a:prstGeom>
          <a:solidFill>
            <a:srgbClr val="1E7A46"/>
          </a:solidFill>
          <a:ln/>
        </p:spPr>
      </p:sp>
      <p:sp>
        <p:nvSpPr>
          <p:cNvPr id="16" name="Text 14"/>
          <p:cNvSpPr/>
          <p:nvPr/>
        </p:nvSpPr>
        <p:spPr>
          <a:xfrm>
            <a:off x="3809913" y="2423160"/>
            <a:ext cx="1365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809913" y="2990088"/>
            <a:ext cx="13654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376541" y="2331720"/>
            <a:ext cx="1438612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76541" y="2331720"/>
            <a:ext cx="82296" cy="1051560"/>
          </a:xfrm>
          <a:prstGeom prst="rect">
            <a:avLst/>
          </a:prstGeom>
          <a:solidFill>
            <a:srgbClr val="B5742A"/>
          </a:solidFill>
          <a:ln/>
        </p:spPr>
      </p:sp>
      <p:sp>
        <p:nvSpPr>
          <p:cNvPr id="20" name="Text 18"/>
          <p:cNvSpPr/>
          <p:nvPr/>
        </p:nvSpPr>
        <p:spPr>
          <a:xfrm>
            <a:off x="5413117" y="2423160"/>
            <a:ext cx="1365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handoff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13117" y="2990088"/>
            <a:ext cx="13654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5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979746" y="2331720"/>
            <a:ext cx="1438612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79746" y="2331720"/>
            <a:ext cx="82296" cy="1051560"/>
          </a:xfrm>
          <a:prstGeom prst="rect">
            <a:avLst/>
          </a:prstGeom>
          <a:solidFill>
            <a:srgbClr val="B5742A"/>
          </a:solidFill>
          <a:ln/>
        </p:spPr>
      </p:sp>
      <p:sp>
        <p:nvSpPr>
          <p:cNvPr id="24" name="Text 22"/>
          <p:cNvSpPr/>
          <p:nvPr/>
        </p:nvSpPr>
        <p:spPr>
          <a:xfrm>
            <a:off x="7016322" y="2423160"/>
            <a:ext cx="1365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&amp; triage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016322" y="2990088"/>
            <a:ext cx="13654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5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82950" y="2331720"/>
            <a:ext cx="1438612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582950" y="2331720"/>
            <a:ext cx="82296" cy="1051560"/>
          </a:xfrm>
          <a:prstGeom prst="rect">
            <a:avLst/>
          </a:prstGeom>
          <a:solidFill>
            <a:srgbClr val="B5742A"/>
          </a:solidFill>
          <a:ln/>
        </p:spPr>
      </p:sp>
      <p:sp>
        <p:nvSpPr>
          <p:cNvPr id="28" name="Text 26"/>
          <p:cNvSpPr/>
          <p:nvPr/>
        </p:nvSpPr>
        <p:spPr>
          <a:xfrm>
            <a:off x="8619526" y="2423160"/>
            <a:ext cx="1365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19526" y="2990088"/>
            <a:ext cx="13654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5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0186155" y="2331720"/>
            <a:ext cx="1438612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186155" y="2331720"/>
            <a:ext cx="82296" cy="1051560"/>
          </a:xfrm>
          <a:prstGeom prst="rect">
            <a:avLst/>
          </a:prstGeom>
          <a:solidFill>
            <a:srgbClr val="B5742A"/>
          </a:solidFill>
          <a:ln/>
        </p:spPr>
      </p:sp>
      <p:sp>
        <p:nvSpPr>
          <p:cNvPr id="32" name="Text 30"/>
          <p:cNvSpPr/>
          <p:nvPr/>
        </p:nvSpPr>
        <p:spPr>
          <a:xfrm>
            <a:off x="10222731" y="2423160"/>
            <a:ext cx="1365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222731" y="2990088"/>
            <a:ext cx="13654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5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66928" y="3886200"/>
            <a:ext cx="344210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3886200"/>
            <a:ext cx="82296" cy="1920240"/>
          </a:xfrm>
          <a:prstGeom prst="rect">
            <a:avLst/>
          </a:prstGeom>
          <a:solidFill>
            <a:srgbClr val="17A2A2"/>
          </a:solidFill>
          <a:ln/>
        </p:spPr>
      </p:sp>
      <p:sp>
        <p:nvSpPr>
          <p:cNvPr id="36" name="Text 34"/>
          <p:cNvSpPr/>
          <p:nvPr/>
        </p:nvSpPr>
        <p:spPr>
          <a:xfrm>
            <a:off x="841248" y="4114800"/>
            <a:ext cx="28934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Faster idea→ship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841248" y="4709160"/>
            <a:ext cx="289346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time spent re-stitching context at every handoff.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4374794" y="3886200"/>
            <a:ext cx="344210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374794" y="3886200"/>
            <a:ext cx="82296" cy="1920240"/>
          </a:xfrm>
          <a:prstGeom prst="rect">
            <a:avLst/>
          </a:prstGeom>
          <a:solidFill>
            <a:srgbClr val="17A2A2"/>
          </a:solidFill>
          <a:ln/>
        </p:spPr>
      </p:sp>
      <p:sp>
        <p:nvSpPr>
          <p:cNvPr id="40" name="Text 38"/>
          <p:cNvSpPr/>
          <p:nvPr/>
        </p:nvSpPr>
        <p:spPr>
          <a:xfrm>
            <a:off x="4649114" y="4114800"/>
            <a:ext cx="28934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More consistent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4649114" y="4709160"/>
            <a:ext cx="289346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follows the same gated, reviewable path.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8182661" y="3886200"/>
            <a:ext cx="344210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182661" y="3886200"/>
            <a:ext cx="82296" cy="1920240"/>
          </a:xfrm>
          <a:prstGeom prst="rect">
            <a:avLst/>
          </a:prstGeom>
          <a:solidFill>
            <a:srgbClr val="17A2A2"/>
          </a:solidFill>
          <a:ln/>
        </p:spPr>
      </p:sp>
      <p:sp>
        <p:nvSpPr>
          <p:cNvPr id="44" name="Text 42"/>
          <p:cNvSpPr/>
          <p:nvPr/>
        </p:nvSpPr>
        <p:spPr>
          <a:xfrm>
            <a:off x="8456981" y="4114800"/>
            <a:ext cx="28934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Lower risk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8456981" y="4709160"/>
            <a:ext cx="289346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and gaps surface early — while they’re cheap to fix.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A2A2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371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7A2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0607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Faster, more consistent delivery — without taking the call out of the PM’s hands.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66928" y="388620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D8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PM-OS is a low-risk bet: it runs locally today, adopts incrementally, and earns trust phase by phase. The decision authority never leaves the PM.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66928" y="6217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 ·  Live demo  ·  Companion: PM-OS Technical Brief (detailed)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PM-OS Business Overview</dc:title>
  <dc:subject>PptxGenJS Presentation</dc:subject>
  <dc:creator>PM-OS</dc:creator>
  <cp:lastModifiedBy>PM-OS</cp:lastModifiedBy>
  <cp:revision>1</cp:revision>
  <dcterms:created xsi:type="dcterms:W3CDTF">2026-06-15T07:21:10Z</dcterms:created>
  <dcterms:modified xsi:type="dcterms:W3CDTF">2026-06-15T07:21:10Z</dcterms:modified>
</cp:coreProperties>
</file>