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2A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PM-OS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38862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PM-led operating layer for the product lifecycle. One coherent thread from idea to ship — with the PM in control at every decision point.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Director of Product · BU Head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A2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44168" y="475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running the lifecycle by hand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PM drives every product through the same stages — brief, scope, PRD, design, QA, metrics. Built by hand each time, the lifecycle is slow, uneven in quality, and easy to break.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743200"/>
            <a:ext cx="344210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743200"/>
            <a:ext cx="82296" cy="3063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3017520"/>
            <a:ext cx="502920" cy="502920"/>
          </a:xfrm>
          <a:prstGeom prst="ellipse">
            <a:avLst/>
          </a:prstGeom>
          <a:solidFill>
            <a:srgbClr val="EEF3F8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86968" y="3703320"/>
            <a:ext cx="28020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Inconsistent output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6968" y="4206240"/>
            <a:ext cx="280202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consistency of artifacts swing by PM, by product, and by how close the deadline is. There’s no repeatable standard to lean 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74794" y="2743200"/>
            <a:ext cx="344210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4794" y="2743200"/>
            <a:ext cx="82296" cy="3063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Shape 12"/>
          <p:cNvSpPr/>
          <p:nvPr/>
        </p:nvSpPr>
        <p:spPr>
          <a:xfrm>
            <a:off x="4694834" y="3017520"/>
            <a:ext cx="502920" cy="502920"/>
          </a:xfrm>
          <a:prstGeom prst="ellipse">
            <a:avLst/>
          </a:prstGeom>
          <a:solidFill>
            <a:srgbClr val="EEF3F8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4834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94834" y="3703320"/>
            <a:ext cx="28020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end-to-end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94834" y="4206240"/>
            <a:ext cx="280202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starts from a blank page. Running the full lifecycle is time-consuming, and the busywork crowds out the actual product thinking.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82661" y="2743200"/>
            <a:ext cx="344210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2661" y="2743200"/>
            <a:ext cx="82296" cy="3063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2701" y="3017520"/>
            <a:ext cx="502920" cy="502920"/>
          </a:xfrm>
          <a:prstGeom prst="ellipse">
            <a:avLst/>
          </a:prstGeom>
          <a:solidFill>
            <a:srgbClr val="EEF3F8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2701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02701" y="3703320"/>
            <a:ext cx="28020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Costly late rework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02701" y="4206240"/>
            <a:ext cx="280202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upstream change quietly invalidates downstream docs. Gaps and contradictions surface late — when they’re slowest and most expensive to fix.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A2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44168" y="475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PM-OS 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layer that keeps one coherent thread across the product lifecycle.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on the PM’s own machine — no new app to adopt, no central system, nothing leaves the PM’s control.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560320"/>
            <a:ext cx="11057839" cy="1143000"/>
          </a:xfrm>
          <a:prstGeom prst="roundRect">
            <a:avLst>
              <a:gd name="adj" fmla="val 64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670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 decides  ·  PM-OS prepares &amp; validates  ·  Dev &amp; QA execute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whole philosophy: PM-OS removes the busywork, never the judgment.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977640"/>
            <a:ext cx="344210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3977640"/>
            <a:ext cx="82296" cy="1828800"/>
          </a:xfrm>
          <a:prstGeom prst="rect">
            <a:avLst/>
          </a:prstGeom>
          <a:solidFill>
            <a:srgbClr val="17A2A2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160520"/>
            <a:ext cx="289346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PM decides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4800600"/>
            <a:ext cx="289346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trade-offs, approvals, priority, release calls.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74794" y="3977640"/>
            <a:ext cx="344210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4794" y="3977640"/>
            <a:ext cx="82296" cy="18288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4649114" y="4160520"/>
            <a:ext cx="289346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PM-OS prepares &amp; validates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49114" y="4800600"/>
            <a:ext cx="289346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artifacts, checks consistency, flags drift, recommends the next step.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82661" y="3977640"/>
            <a:ext cx="344210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2661" y="3977640"/>
            <a:ext cx="82296" cy="18288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8456981" y="4160520"/>
            <a:ext cx="289346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 &amp; QA execute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56981" y="4800600"/>
            <a:ext cx="289346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and testing stay with the team. PM-OS never replaces them.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A2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44168" y="475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works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 (v1):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gated pipeline that turns a one-line idea — or the research you already have — into a reviewed set of product-definition artifacts.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1407262" cy="9144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331720"/>
            <a:ext cx="82296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2331720"/>
            <a:ext cx="13341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your research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955902" y="2331720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75358" y="2331720"/>
            <a:ext cx="140726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5358" y="2331720"/>
            <a:ext cx="82296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2211934" y="2331720"/>
            <a:ext cx="13341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4331" y="2331720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83787" y="2331720"/>
            <a:ext cx="140726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83787" y="2331720"/>
            <a:ext cx="82296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3820363" y="2331720"/>
            <a:ext cx="13341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72761" y="2331720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92217" y="2331720"/>
            <a:ext cx="140726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2217" y="2331720"/>
            <a:ext cx="82296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5428793" y="2331720"/>
            <a:ext cx="13341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81190" y="2331720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00646" y="2331720"/>
            <a:ext cx="140726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00646" y="2331720"/>
            <a:ext cx="82296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7037222" y="2331720"/>
            <a:ext cx="13341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89620" y="2331720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09076" y="2331720"/>
            <a:ext cx="140726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09076" y="2331720"/>
            <a:ext cx="82296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8645652" y="2331720"/>
            <a:ext cx="13341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998050" y="2331720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217506" y="2331720"/>
            <a:ext cx="140726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17506" y="2331720"/>
            <a:ext cx="82296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2" name="Text 30"/>
          <p:cNvSpPr/>
          <p:nvPr/>
        </p:nvSpPr>
        <p:spPr>
          <a:xfrm>
            <a:off x="10254082" y="2331720"/>
            <a:ext cx="13341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6928" y="333756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pauses for the PM’s review before the next one runs.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6928" y="3886200"/>
            <a:ext cx="3442106" cy="1188720"/>
          </a:xfrm>
          <a:prstGeom prst="roundRect">
            <a:avLst>
              <a:gd name="adj" fmla="val 6154"/>
            </a:avLst>
          </a:prstGeom>
          <a:solidFill>
            <a:srgbClr val="EE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" y="4023360"/>
            <a:ext cx="29849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Human-gated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95528" y="4389120"/>
            <a:ext cx="29849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pauses for the PM’s review — the PM decides when to move on.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374794" y="3886200"/>
            <a:ext cx="3442106" cy="1188720"/>
          </a:xfrm>
          <a:prstGeom prst="roundRect">
            <a:avLst>
              <a:gd name="adj" fmla="val 6154"/>
            </a:avLst>
          </a:prstGeom>
          <a:solidFill>
            <a:srgbClr val="EE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03394" y="4023360"/>
            <a:ext cx="29849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Catches drift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603394" y="4389120"/>
            <a:ext cx="29849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 approved doc and PM-OS flags what downstream may no longer hold.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182661" y="3886200"/>
            <a:ext cx="3442106" cy="1188720"/>
          </a:xfrm>
          <a:prstGeom prst="roundRect">
            <a:avLst>
              <a:gd name="adj" fmla="val 6154"/>
            </a:avLst>
          </a:prstGeom>
          <a:solidFill>
            <a:srgbClr val="EE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1261" y="4023360"/>
            <a:ext cx="29849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&amp; portable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411261" y="4389120"/>
            <a:ext cx="29849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Markdown files on the PM’s machine. Runs on Claude Code or Codex.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66928" y="530352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6968" y="5486400"/>
            <a:ext cx="411480" cy="411480"/>
          </a:xfrm>
          <a:prstGeom prst="ellipse">
            <a:avLst/>
          </a:prstGeom>
          <a:solidFill>
            <a:srgbClr val="17A2A2"/>
          </a:solidFill>
          <a:ln/>
        </p:spPr>
      </p:sp>
      <p:sp>
        <p:nvSpPr>
          <p:cNvPr id="45" name="Text 43"/>
          <p:cNvSpPr/>
          <p:nvPr/>
        </p:nvSpPr>
        <p:spPr>
          <a:xfrm>
            <a:off x="886968" y="5486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481328" y="5303520"/>
            <a:ext cx="986911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indent="0" marL="0">
              <a:buNone/>
            </a:pPr>
            <a:r>
              <a:rPr lang="en-US" sz="15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a project → generate a brief → approve → watch the next stage unlock.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A2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44168" y="475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gate actually does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output is only worth having if it can be trusted. “Approval” here is enforced by the tool, not left to discipline.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148840"/>
            <a:ext cx="82296" cy="10515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214884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Blocks unapproved work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61688" y="2258568"/>
            <a:ext cx="6851599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 refuses to run while anything upstream of it is still unreviewed. This is enforced, not a guideline — the PM cannot accidentally build on an unapproved decision.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401568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3401568"/>
            <a:ext cx="82296" cy="10515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01568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Detects silent edits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61688" y="3511296"/>
            <a:ext cx="6851599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documents are fingerprinted. Change one after the fact and it is flagged as edited — nobody can quietly rewrite a decision after sign-off.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654296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4654296"/>
            <a:ext cx="82296" cy="10515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" y="4654296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Cascades staleness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361688" y="4764024"/>
            <a:ext cx="6851599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Re-approve something upstream and everything built on it is marked stale, so no downstream document rests on a decision that has since moved.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585216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852160"/>
            <a:ext cx="1032631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 effect: the document set can never lie about what has been reviewed.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A2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44168" y="475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walk away with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leaves behind a reviewed set of artifacts — and builds up a company asset that makes the next project faster.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PROJECT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112298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286000"/>
            <a:ext cx="82296" cy="8412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2286000"/>
            <a:ext cx="97668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08785" y="2286000"/>
            <a:ext cx="112298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08785" y="2286000"/>
            <a:ext cx="82296" cy="8412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1909369" y="2286000"/>
            <a:ext cx="97668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50642" y="2286000"/>
            <a:ext cx="112298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50642" y="2286000"/>
            <a:ext cx="82296" cy="8412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3151226" y="2286000"/>
            <a:ext cx="97668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2498" y="2286000"/>
            <a:ext cx="112298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2498" y="2286000"/>
            <a:ext cx="82296" cy="8412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4393082" y="2286000"/>
            <a:ext cx="97668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spec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HTML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34355" y="2286000"/>
            <a:ext cx="112298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4355" y="2286000"/>
            <a:ext cx="82296" cy="8412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1" name="Text 19"/>
          <p:cNvSpPr/>
          <p:nvPr/>
        </p:nvSpPr>
        <p:spPr>
          <a:xfrm>
            <a:off x="5634939" y="2286000"/>
            <a:ext cx="97668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brief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working HTML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76212" y="2286000"/>
            <a:ext cx="112298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76212" y="2286000"/>
            <a:ext cx="82296" cy="8412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6876796" y="2286000"/>
            <a:ext cx="97668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plan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18069" y="2286000"/>
            <a:ext cx="112298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8069" y="2286000"/>
            <a:ext cx="82296" cy="8412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7" name="Text 25"/>
          <p:cNvSpPr/>
          <p:nvPr/>
        </p:nvSpPr>
        <p:spPr>
          <a:xfrm>
            <a:off x="8118653" y="2286000"/>
            <a:ext cx="97668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plan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59926" y="2286000"/>
            <a:ext cx="1122985" cy="841248"/>
          </a:xfrm>
          <a:prstGeom prst="roundRect">
            <a:avLst>
              <a:gd name="adj" fmla="val 8696"/>
            </a:avLst>
          </a:prstGeom>
          <a:solidFill>
            <a:srgbClr val="FAFBFC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59926" y="2286000"/>
            <a:ext cx="82296" cy="841248"/>
          </a:xfrm>
          <a:prstGeom prst="rect">
            <a:avLst/>
          </a:prstGeom>
          <a:solidFill>
            <a:srgbClr val="B5742A"/>
          </a:solidFill>
          <a:ln/>
        </p:spPr>
      </p:sp>
      <p:sp>
        <p:nvSpPr>
          <p:cNvPr id="30" name="Text 28"/>
          <p:cNvSpPr/>
          <p:nvPr/>
        </p:nvSpPr>
        <p:spPr>
          <a:xfrm>
            <a:off x="9360510" y="2286000"/>
            <a:ext cx="97668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TRD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501782" y="2286000"/>
            <a:ext cx="1122985" cy="841248"/>
          </a:xfrm>
          <a:prstGeom prst="roundRect">
            <a:avLst>
              <a:gd name="adj" fmla="val 8696"/>
            </a:avLst>
          </a:prstGeom>
          <a:solidFill>
            <a:srgbClr val="FAFBFC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01782" y="2286000"/>
            <a:ext cx="82296" cy="841248"/>
          </a:xfrm>
          <a:prstGeom prst="rect">
            <a:avLst/>
          </a:prstGeom>
          <a:solidFill>
            <a:srgbClr val="B5742A"/>
          </a:solidFill>
          <a:ln/>
        </p:spPr>
      </p:sp>
      <p:sp>
        <p:nvSpPr>
          <p:cNvPr id="33" name="Text 31"/>
          <p:cNvSpPr/>
          <p:nvPr/>
        </p:nvSpPr>
        <p:spPr>
          <a:xfrm>
            <a:off x="10602366" y="2286000"/>
            <a:ext cx="97668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320040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per-story handoff package — the PRD and QA plan carry stable requirement and test ids, so every story traces to the journey and the tests that cover it.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66928" y="3611880"/>
            <a:ext cx="11057839" cy="1234440"/>
          </a:xfrm>
          <a:prstGeom prst="roundRect">
            <a:avLst>
              <a:gd name="adj" fmla="val 5926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3730752"/>
            <a:ext cx="103263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your standards once. Every future product inherits them.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32688" y="4206240"/>
            <a:ext cx="103263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 layer holds your company profile, team, glossary and guardrails — plus your own format and a worked example for each stage. It is applied automatically to every project, and it gets richer with each one.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66928" y="5074920"/>
            <a:ext cx="3442106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193792"/>
            <a:ext cx="29300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Markdown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22960" y="5532120"/>
            <a:ext cx="293004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format and no app to open. Every artifact is readable, editable and diffable text.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74794" y="5074920"/>
            <a:ext cx="3442106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30826" y="5193792"/>
            <a:ext cx="29300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formats, not a vendor's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4630826" y="5532120"/>
            <a:ext cx="293004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PM-OS imposes no external framework. Your templates can extend — or entirely replace — each stage's structure.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82661" y="5074920"/>
            <a:ext cx="3442106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38693" y="5193792"/>
            <a:ext cx="29300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surfaces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8438693" y="5532120"/>
            <a:ext cx="293004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inside the agent, and a browser for the design preview and the clickable prototype. That's the whole surface area.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A2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44168" y="475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saves — time per stage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63040"/>
            <a:ext cx="1105783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hands-on time to a reviewable first draft — generate, then review. The PM-OS column is measured, not projected.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2316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 — ESTIMATE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81160" y="19659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PM-OS, MEASURED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3134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brief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23160" y="2331720"/>
            <a:ext cx="2270760" cy="310896"/>
          </a:xfrm>
          <a:prstGeom prst="roundRect">
            <a:avLst>
              <a:gd name="adj" fmla="val 11765"/>
            </a:avLst>
          </a:prstGeom>
          <a:solidFill>
            <a:srgbClr val="DCE3EB"/>
          </a:solidFill>
          <a:ln/>
        </p:spPr>
      </p:sp>
      <p:sp>
        <p:nvSpPr>
          <p:cNvPr id="10" name="Shape 8"/>
          <p:cNvSpPr/>
          <p:nvPr/>
        </p:nvSpPr>
        <p:spPr>
          <a:xfrm>
            <a:off x="2423160" y="2331720"/>
            <a:ext cx="93669" cy="310896"/>
          </a:xfrm>
          <a:prstGeom prst="roundRect">
            <a:avLst>
              <a:gd name="adj" fmla="val 39048"/>
            </a:avLst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2331720"/>
            <a:ext cx="2142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555480" y="23317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9555480" y="23317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275691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23160" y="2775204"/>
            <a:ext cx="2270760" cy="310896"/>
          </a:xfrm>
          <a:prstGeom prst="roundRect">
            <a:avLst>
              <a:gd name="adj" fmla="val 11765"/>
            </a:avLst>
          </a:prstGeom>
          <a:solidFill>
            <a:srgbClr val="DCE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2423160" y="2775204"/>
            <a:ext cx="82296" cy="310896"/>
          </a:xfrm>
          <a:prstGeom prst="roundRect">
            <a:avLst>
              <a:gd name="adj" fmla="val 44444"/>
            </a:avLst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2775204"/>
            <a:ext cx="2142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55480" y="277520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9555480" y="277520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200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23160" y="3218688"/>
            <a:ext cx="6812280" cy="310896"/>
          </a:xfrm>
          <a:prstGeom prst="roundRect">
            <a:avLst>
              <a:gd name="adj" fmla="val 11765"/>
            </a:avLst>
          </a:prstGeom>
          <a:solidFill>
            <a:srgbClr val="DCE3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423160" y="3218688"/>
            <a:ext cx="283845" cy="310896"/>
          </a:xfrm>
          <a:prstGeom prst="roundRect">
            <a:avLst>
              <a:gd name="adj" fmla="val 12886"/>
            </a:avLst>
          </a:prstGeom>
          <a:solidFill>
            <a:srgbClr val="0E7C7B"/>
          </a:solidFill>
          <a:ln/>
        </p:spPr>
      </p:sp>
      <p:sp>
        <p:nvSpPr>
          <p:cNvPr id="23" name="Text 21"/>
          <p:cNvSpPr/>
          <p:nvPr/>
        </p:nvSpPr>
        <p:spPr>
          <a:xfrm>
            <a:off x="2423160" y="3218688"/>
            <a:ext cx="6684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55480" y="32186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9555480" y="321868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36438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spec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423160" y="3662172"/>
            <a:ext cx="4541520" cy="310896"/>
          </a:xfrm>
          <a:prstGeom prst="roundRect">
            <a:avLst>
              <a:gd name="adj" fmla="val 11765"/>
            </a:avLst>
          </a:prstGeom>
          <a:solidFill>
            <a:srgbClr val="DCE3EB"/>
          </a:solidFill>
          <a:ln/>
        </p:spPr>
      </p:sp>
      <p:sp>
        <p:nvSpPr>
          <p:cNvPr id="28" name="Shape 26"/>
          <p:cNvSpPr/>
          <p:nvPr/>
        </p:nvSpPr>
        <p:spPr>
          <a:xfrm>
            <a:off x="2423160" y="3662172"/>
            <a:ext cx="190176" cy="310896"/>
          </a:xfrm>
          <a:prstGeom prst="roundRect">
            <a:avLst>
              <a:gd name="adj" fmla="val 19233"/>
            </a:avLst>
          </a:prstGeom>
          <a:solidFill>
            <a:srgbClr val="0E7C7B"/>
          </a:solidFill>
          <a:ln/>
        </p:spPr>
      </p:sp>
      <p:sp>
        <p:nvSpPr>
          <p:cNvPr id="29" name="Text 27"/>
          <p:cNvSpPr/>
          <p:nvPr/>
        </p:nvSpPr>
        <p:spPr>
          <a:xfrm>
            <a:off x="2423160" y="3662172"/>
            <a:ext cx="4413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555480" y="36621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31" name="Text 29"/>
          <p:cNvSpPr/>
          <p:nvPr/>
        </p:nvSpPr>
        <p:spPr>
          <a:xfrm>
            <a:off x="9555480" y="366217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40873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plan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423160" y="4105656"/>
            <a:ext cx="4541520" cy="310896"/>
          </a:xfrm>
          <a:prstGeom prst="roundRect">
            <a:avLst>
              <a:gd name="adj" fmla="val 11765"/>
            </a:avLst>
          </a:prstGeom>
          <a:solidFill>
            <a:srgbClr val="DCE3EB"/>
          </a:solidFill>
          <a:ln/>
        </p:spPr>
      </p:sp>
      <p:sp>
        <p:nvSpPr>
          <p:cNvPr id="34" name="Shape 32"/>
          <p:cNvSpPr/>
          <p:nvPr/>
        </p:nvSpPr>
        <p:spPr>
          <a:xfrm>
            <a:off x="2423160" y="4105656"/>
            <a:ext cx="141923" cy="310896"/>
          </a:xfrm>
          <a:prstGeom prst="roundRect">
            <a:avLst>
              <a:gd name="adj" fmla="val 25772"/>
            </a:avLst>
          </a:prstGeom>
          <a:solidFill>
            <a:srgbClr val="0E7C7B"/>
          </a:solidFill>
          <a:ln/>
        </p:spPr>
      </p:sp>
      <p:sp>
        <p:nvSpPr>
          <p:cNvPr id="35" name="Text 33"/>
          <p:cNvSpPr/>
          <p:nvPr/>
        </p:nvSpPr>
        <p:spPr>
          <a:xfrm>
            <a:off x="2423160" y="4105656"/>
            <a:ext cx="4413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555480" y="410565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37" name="Text 35"/>
          <p:cNvSpPr/>
          <p:nvPr/>
        </p:nvSpPr>
        <p:spPr>
          <a:xfrm>
            <a:off x="9555480" y="410565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45308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plan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423160" y="4549140"/>
            <a:ext cx="2270760" cy="310896"/>
          </a:xfrm>
          <a:prstGeom prst="roundRect">
            <a:avLst>
              <a:gd name="adj" fmla="val 11765"/>
            </a:avLst>
          </a:prstGeom>
          <a:solidFill>
            <a:srgbClr val="DCE3EB"/>
          </a:solidFill>
          <a:ln/>
        </p:spPr>
      </p:sp>
      <p:sp>
        <p:nvSpPr>
          <p:cNvPr id="40" name="Shape 38"/>
          <p:cNvSpPr/>
          <p:nvPr/>
        </p:nvSpPr>
        <p:spPr>
          <a:xfrm>
            <a:off x="2423160" y="4549140"/>
            <a:ext cx="93669" cy="310896"/>
          </a:xfrm>
          <a:prstGeom prst="roundRect">
            <a:avLst>
              <a:gd name="adj" fmla="val 39048"/>
            </a:avLst>
          </a:prstGeom>
          <a:solidFill>
            <a:srgbClr val="0E7C7B"/>
          </a:solidFill>
          <a:ln/>
        </p:spPr>
      </p:sp>
      <p:sp>
        <p:nvSpPr>
          <p:cNvPr id="41" name="Text 39"/>
          <p:cNvSpPr/>
          <p:nvPr/>
        </p:nvSpPr>
        <p:spPr>
          <a:xfrm>
            <a:off x="2423160" y="4549140"/>
            <a:ext cx="2142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555480" y="45491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43" name="Text 41"/>
          <p:cNvSpPr/>
          <p:nvPr/>
        </p:nvSpPr>
        <p:spPr>
          <a:xfrm>
            <a:off x="9555480" y="45491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6928" y="507492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" y="513892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 working weeks</a:t>
            </a:r>
            <a:pPr indent="0" marL="0">
              <a:buNone/>
            </a:pPr>
            <a:r>
              <a:rPr lang="en-US" sz="2200" dirty="0">
                <a:solidFill>
                  <a:srgbClr val="D8E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of authoring  →  </a:t>
            </a:r>
            <a:pPr indent="0" marL="0">
              <a:buNone/>
            </a:pPr>
            <a:r>
              <a:rPr lang="en-US" sz="2200" b="1" dirty="0">
                <a:solidFill>
                  <a:srgbClr val="17A2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half a day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932688" y="559612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across 7 real projects and 40+ recorded stage runs — not a projection.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247327" y="513892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hrs</a:t>
            </a:r>
            <a:pPr algn="r" indent="0" marL="0">
              <a:buNone/>
            </a:pP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PM-OS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66928" y="608076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PM-OS column measured from the tool's own tamper-evident event log. The by-hand column is an estimate. Both exclude stakeholder review cycles, which apply either way, and vary with product complexity.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A2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44168" y="475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→ clickable prototype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question: how fast can I put something in front of a user? This is one real project, start to finish, on a single afternoon.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1629613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148840"/>
            <a:ext cx="82296" cy="9601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148840"/>
            <a:ext cx="144673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 had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59965" y="2148840"/>
            <a:ext cx="329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452573" y="2148840"/>
            <a:ext cx="1629613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2573" y="2148840"/>
            <a:ext cx="82296" cy="9601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2544013" y="2148840"/>
            <a:ext cx="144673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045610" y="2148840"/>
            <a:ext cx="329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338218" y="2148840"/>
            <a:ext cx="1629613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2148840"/>
            <a:ext cx="82296" cy="9601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4429658" y="2148840"/>
            <a:ext cx="144673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31256" y="2148840"/>
            <a:ext cx="329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23864" y="2148840"/>
            <a:ext cx="1629613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23864" y="2148840"/>
            <a:ext cx="82296" cy="9601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6315304" y="2148840"/>
            <a:ext cx="144673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16901" y="2148840"/>
            <a:ext cx="329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109509" y="2148840"/>
            <a:ext cx="1629613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09509" y="2148840"/>
            <a:ext cx="82296" cy="9601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8200949" y="2148840"/>
            <a:ext cx="144673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702546" y="2148840"/>
            <a:ext cx="329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995154" y="2148840"/>
            <a:ext cx="1629613" cy="960120"/>
          </a:xfrm>
          <a:prstGeom prst="roundRect">
            <a:avLst>
              <a:gd name="adj" fmla="val 7619"/>
            </a:avLst>
          </a:prstGeom>
          <a:solidFill>
            <a:srgbClr val="E2F0E8"/>
          </a:solidFill>
          <a:ln w="12700">
            <a:solidFill>
              <a:srgbClr val="BBD8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95154" y="2148840"/>
            <a:ext cx="82296" cy="960120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28" name="Text 26"/>
          <p:cNvSpPr/>
          <p:nvPr/>
        </p:nvSpPr>
        <p:spPr>
          <a:xfrm>
            <a:off x="10086594" y="2148840"/>
            <a:ext cx="144673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brief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working HTML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320040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in, working prototype out — no stage ever starts from a blank page.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6928" y="3611880"/>
            <a:ext cx="344210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3611880"/>
            <a:ext cx="82296" cy="16916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3749040"/>
            <a:ext cx="28934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 min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841248" y="4297680"/>
            <a:ext cx="28934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machine time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1248" y="4626864"/>
            <a:ext cx="289346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itself spends generating the whole chain from brief to prototype.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74794" y="3611880"/>
            <a:ext cx="344210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74794" y="3611880"/>
            <a:ext cx="82296" cy="1691640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37" name="Text 35"/>
          <p:cNvSpPr/>
          <p:nvPr/>
        </p:nvSpPr>
        <p:spPr>
          <a:xfrm>
            <a:off x="4649114" y="3749040"/>
            <a:ext cx="28934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7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~1.5 hrs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4649114" y="4297680"/>
            <a:ext cx="28934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clickable prototype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649114" y="4626864"/>
            <a:ext cx="289346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to an approved, interactive prototype — including genuine PM review at every gate.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82661" y="3611880"/>
            <a:ext cx="344210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82661" y="3611880"/>
            <a:ext cx="82296" cy="16916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2" name="Text 40"/>
          <p:cNvSpPr/>
          <p:nvPr/>
        </p:nvSpPr>
        <p:spPr>
          <a:xfrm>
            <a:off x="8456981" y="3749040"/>
            <a:ext cx="28934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 hrs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8456981" y="4297680"/>
            <a:ext cx="28934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full pipeline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456981" y="4626864"/>
            <a:ext cx="289346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through the technical requirements doc and the roadmap. Same afternoon.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" y="548640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2688" y="5486400"/>
            <a:ext cx="1032631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machine takes about ten minutes. The rest is your review — and that's the design, not the overhead.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A2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44168" y="475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it’s going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5448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is the product-definition kernel.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 is to cover the full lifecycle — built as additive phases around that kernel, not a rewrite.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14386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331720"/>
            <a:ext cx="82296" cy="1051560"/>
          </a:xfrm>
          <a:prstGeom prst="rect">
            <a:avLst/>
          </a:prstGeom>
          <a:solidFill>
            <a:srgbClr val="B5742A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2423160"/>
            <a:ext cx="1365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" y="2990088"/>
            <a:ext cx="1365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0132" y="2331720"/>
            <a:ext cx="1438612" cy="1051560"/>
          </a:xfrm>
          <a:prstGeom prst="roundRect">
            <a:avLst>
              <a:gd name="adj" fmla="val 6957"/>
            </a:avLst>
          </a:prstGeom>
          <a:solidFill>
            <a:srgbClr val="E2F0E8"/>
          </a:solidFill>
          <a:ln w="12700">
            <a:solidFill>
              <a:srgbClr val="BBD8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0132" y="2331720"/>
            <a:ext cx="82296" cy="1051560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12" name="Text 10"/>
          <p:cNvSpPr/>
          <p:nvPr/>
        </p:nvSpPr>
        <p:spPr>
          <a:xfrm>
            <a:off x="2206708" y="2423160"/>
            <a:ext cx="1365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06708" y="2990088"/>
            <a:ext cx="1365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73337" y="2331720"/>
            <a:ext cx="1438612" cy="1051560"/>
          </a:xfrm>
          <a:prstGeom prst="roundRect">
            <a:avLst>
              <a:gd name="adj" fmla="val 6957"/>
            </a:avLst>
          </a:prstGeom>
          <a:solidFill>
            <a:srgbClr val="E2F0E8"/>
          </a:solidFill>
          <a:ln w="12700">
            <a:solidFill>
              <a:srgbClr val="BBD8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73337" y="2331720"/>
            <a:ext cx="82296" cy="1051560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16" name="Text 14"/>
          <p:cNvSpPr/>
          <p:nvPr/>
        </p:nvSpPr>
        <p:spPr>
          <a:xfrm>
            <a:off x="3809913" y="2423160"/>
            <a:ext cx="1365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09913" y="2990088"/>
            <a:ext cx="1365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76541" y="2331720"/>
            <a:ext cx="14386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6541" y="2331720"/>
            <a:ext cx="82296" cy="1051560"/>
          </a:xfrm>
          <a:prstGeom prst="rect">
            <a:avLst/>
          </a:prstGeom>
          <a:solidFill>
            <a:srgbClr val="B5742A"/>
          </a:solidFill>
          <a:ln/>
        </p:spPr>
      </p:sp>
      <p:sp>
        <p:nvSpPr>
          <p:cNvPr id="20" name="Text 18"/>
          <p:cNvSpPr/>
          <p:nvPr/>
        </p:nvSpPr>
        <p:spPr>
          <a:xfrm>
            <a:off x="5413117" y="2423160"/>
            <a:ext cx="1365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handoff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13117" y="2990088"/>
            <a:ext cx="1365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79746" y="2331720"/>
            <a:ext cx="14386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79746" y="2331720"/>
            <a:ext cx="82296" cy="1051560"/>
          </a:xfrm>
          <a:prstGeom prst="rect">
            <a:avLst/>
          </a:prstGeom>
          <a:solidFill>
            <a:srgbClr val="B5742A"/>
          </a:solidFill>
          <a:ln/>
        </p:spPr>
      </p:sp>
      <p:sp>
        <p:nvSpPr>
          <p:cNvPr id="24" name="Text 22"/>
          <p:cNvSpPr/>
          <p:nvPr/>
        </p:nvSpPr>
        <p:spPr>
          <a:xfrm>
            <a:off x="7016322" y="2423160"/>
            <a:ext cx="1365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triage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16322" y="2990088"/>
            <a:ext cx="1365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82950" y="2331720"/>
            <a:ext cx="14386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82950" y="2331720"/>
            <a:ext cx="82296" cy="1051560"/>
          </a:xfrm>
          <a:prstGeom prst="rect">
            <a:avLst/>
          </a:prstGeom>
          <a:solidFill>
            <a:srgbClr val="B5742A"/>
          </a:solidFill>
          <a:ln/>
        </p:spPr>
      </p:sp>
      <p:sp>
        <p:nvSpPr>
          <p:cNvPr id="28" name="Text 26"/>
          <p:cNvSpPr/>
          <p:nvPr/>
        </p:nvSpPr>
        <p:spPr>
          <a:xfrm>
            <a:off x="8619526" y="2423160"/>
            <a:ext cx="1365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19526" y="2990088"/>
            <a:ext cx="1365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186155" y="2331720"/>
            <a:ext cx="14386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6155" y="2331720"/>
            <a:ext cx="82296" cy="1051560"/>
          </a:xfrm>
          <a:prstGeom prst="rect">
            <a:avLst/>
          </a:prstGeom>
          <a:solidFill>
            <a:srgbClr val="B5742A"/>
          </a:solidFill>
          <a:ln/>
        </p:spPr>
      </p:sp>
      <p:sp>
        <p:nvSpPr>
          <p:cNvPr id="32" name="Text 30"/>
          <p:cNvSpPr/>
          <p:nvPr/>
        </p:nvSpPr>
        <p:spPr>
          <a:xfrm>
            <a:off x="10222731" y="2423160"/>
            <a:ext cx="1365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22731" y="2990088"/>
            <a:ext cx="1365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3886200"/>
            <a:ext cx="344210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3886200"/>
            <a:ext cx="82296" cy="1920240"/>
          </a:xfrm>
          <a:prstGeom prst="rect">
            <a:avLst/>
          </a:prstGeom>
          <a:solidFill>
            <a:srgbClr val="17A2A2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" y="4114800"/>
            <a:ext cx="28934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idea→ship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41248" y="4709160"/>
            <a:ext cx="289346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spent re-stitching context at every handoff.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374794" y="3886200"/>
            <a:ext cx="344210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74794" y="3886200"/>
            <a:ext cx="82296" cy="1920240"/>
          </a:xfrm>
          <a:prstGeom prst="rect">
            <a:avLst/>
          </a:prstGeom>
          <a:solidFill>
            <a:srgbClr val="17A2A2"/>
          </a:solidFill>
          <a:ln/>
        </p:spPr>
      </p:sp>
      <p:sp>
        <p:nvSpPr>
          <p:cNvPr id="40" name="Text 38"/>
          <p:cNvSpPr/>
          <p:nvPr/>
        </p:nvSpPr>
        <p:spPr>
          <a:xfrm>
            <a:off x="4649114" y="4114800"/>
            <a:ext cx="28934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consistent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4649114" y="4709160"/>
            <a:ext cx="289346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follows the same gated, reviewable path.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182661" y="3886200"/>
            <a:ext cx="344210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82661" y="3886200"/>
            <a:ext cx="82296" cy="1920240"/>
          </a:xfrm>
          <a:prstGeom prst="rect">
            <a:avLst/>
          </a:prstGeom>
          <a:solidFill>
            <a:srgbClr val="17A2A2"/>
          </a:solidFill>
          <a:ln/>
        </p:spPr>
      </p:sp>
      <p:sp>
        <p:nvSpPr>
          <p:cNvPr id="44" name="Text 42"/>
          <p:cNvSpPr/>
          <p:nvPr/>
        </p:nvSpPr>
        <p:spPr>
          <a:xfrm>
            <a:off x="8456981" y="4114800"/>
            <a:ext cx="28934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risk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456981" y="4709160"/>
            <a:ext cx="289346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and gaps surface early — while they’re cheap to fix.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A2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44168" y="475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takes to run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cost is close to zero.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one real decision to make, and two housekeeping items before we widen the rollout.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3442106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148840"/>
            <a:ext cx="82296" cy="28346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31720"/>
            <a:ext cx="28934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laptop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2788920"/>
            <a:ext cx="289346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locally on the PM's own machine — a standard Python runtime, two small open-source libraries, and the agent tool itself.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4114800"/>
            <a:ext cx="289346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server. No database. No open ports. Nothing to host.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4794" y="2148840"/>
            <a:ext cx="3442106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4794" y="2148840"/>
            <a:ext cx="82296" cy="28346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649114" y="2331720"/>
            <a:ext cx="28934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real decision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49114" y="2788920"/>
            <a:ext cx="289346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to send product artifacts — and, when we're extending an existing product, source-code excerpts — to the agent's underlying AI provider.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49114" y="4114800"/>
            <a:ext cx="289346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on this slide is secondary to this one approval.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2661" y="2148840"/>
            <a:ext cx="3442106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2661" y="2148840"/>
            <a:ext cx="82296" cy="2834640"/>
          </a:xfrm>
          <a:prstGeom prst="rect">
            <a:avLst/>
          </a:prstGeom>
          <a:solidFill>
            <a:srgbClr val="B5742A"/>
          </a:solidFill>
          <a:ln/>
        </p:spPr>
      </p:sp>
      <p:sp>
        <p:nvSpPr>
          <p:cNvPr id="18" name="Text 16"/>
          <p:cNvSpPr/>
          <p:nvPr/>
        </p:nvSpPr>
        <p:spPr>
          <a:xfrm>
            <a:off x="8456981" y="2331720"/>
            <a:ext cx="28934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things to move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56981" y="2788920"/>
            <a:ext cx="289346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and the usage log currently sit on a personal repository. Both need to point at company-owned ones before we go wider.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56981" y="4114800"/>
            <a:ext cx="289346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configuration change on each. No rebuild, no new code.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16636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166360"/>
            <a:ext cx="1032631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phases: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tool and the code repositories will each need a scoped access token — requested phase by phase, as we earn the case for them. The Jira ticket-tracker handoff is the exception: it already ships, with an offline CSV route that needs no token at all.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" y="617220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worth flagging openly: artifacts are stored unencrypted on the PM's disk, so pre-launch content warrants a data-classification check; and usage logging is on by design, with no per-PM opt-out.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2A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Faster, more consistent delivery — without taking the call out of the PM’s hands.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38862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PM-OS is a low-risk bet: it runs locally today, adopts incrementally, and earns trust phase by phase. The decision authority never leaves the PM.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·  Live demo  ·  Companion: PM-OS Technical Brief (detailed)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PM-OS Business Overview</dc:title>
  <dc:subject>PptxGenJS Presentation</dc:subject>
  <dc:creator>PM-OS</dc:creator>
  <cp:lastModifiedBy>PM-OS</cp:lastModifiedBy>
  <cp:revision>1</cp:revision>
  <dcterms:created xsi:type="dcterms:W3CDTF">2026-07-22T13:30:56Z</dcterms:created>
  <dcterms:modified xsi:type="dcterms:W3CDTF">2026-07-22T13:30:56Z</dcterms:modified>
</cp:coreProperties>
</file>